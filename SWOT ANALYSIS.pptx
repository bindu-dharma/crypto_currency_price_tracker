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5746-ABAE-4EAA-9309-4323A60AFF63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E5D0B-9E6F-4A75-B8D5-E36C79DC36B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5746-ABAE-4EAA-9309-4323A60AFF63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E5D0B-9E6F-4A75-B8D5-E36C79DC36B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5746-ABAE-4EAA-9309-4323A60AFF63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E5D0B-9E6F-4A75-B8D5-E36C79DC36B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5746-ABAE-4EAA-9309-4323A60AFF63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E5D0B-9E6F-4A75-B8D5-E36C79DC36B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5746-ABAE-4EAA-9309-4323A60AFF63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E5D0B-9E6F-4A75-B8D5-E36C79DC36B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5746-ABAE-4EAA-9309-4323A60AFF63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E5D0B-9E6F-4A75-B8D5-E36C79DC36B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5746-ABAE-4EAA-9309-4323A60AFF63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E5D0B-9E6F-4A75-B8D5-E36C79DC36B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5746-ABAE-4EAA-9309-4323A60AFF63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E5D0B-9E6F-4A75-B8D5-E36C79DC36B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5746-ABAE-4EAA-9309-4323A60AFF63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E5D0B-9E6F-4A75-B8D5-E36C79DC36B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5746-ABAE-4EAA-9309-4323A60AFF63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E5D0B-9E6F-4A75-B8D5-E36C79DC36B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5746-ABAE-4EAA-9309-4323A60AFF63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E5D0B-9E6F-4A75-B8D5-E36C79DC36B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5746-ABAE-4EAA-9309-4323A60AFF63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E5D0B-9E6F-4A75-B8D5-E36C79DC36B5}" type="slidenum">
              <a:rPr lang="en-IN" smtClean="0"/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5746-ABAE-4EAA-9309-4323A60AFF63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E5D0B-9E6F-4A75-B8D5-E36C79DC36B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5746-ABAE-4EAA-9309-4323A60AFF63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E5D0B-9E6F-4A75-B8D5-E36C79DC36B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5746-ABAE-4EAA-9309-4323A60AFF63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E5D0B-9E6F-4A75-B8D5-E36C79DC36B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5746-ABAE-4EAA-9309-4323A60AFF63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E5D0B-9E6F-4A75-B8D5-E36C79DC36B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5746-ABAE-4EAA-9309-4323A60AFF63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E5D0B-9E6F-4A75-B8D5-E36C79DC36B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435746-ABAE-4EAA-9309-4323A60AFF63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CE5D0B-9E6F-4A75-B8D5-E36C79DC36B5}" type="slidenum">
              <a:rPr lang="en-IN" smtClean="0"/>
            </a:fld>
            <a:endParaRPr lang="en-IN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140541" y="1814052"/>
            <a:ext cx="33921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latin typeface="Algerian" panose="04020705040A02060702" pitchFamily="82" charset="0"/>
              </a:rPr>
              <a:t>NAME : BINDU.D</a:t>
            </a:r>
            <a:endParaRPr lang="en-IN" sz="3200" dirty="0">
              <a:latin typeface="Algerian" panose="04020705040A02060702" pitchFamily="8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880851" y="373626"/>
            <a:ext cx="65482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latin typeface="Algerian" panose="04020705040A02060702" pitchFamily="82" charset="0"/>
              </a:rPr>
              <a:t>   RR INSTITUTE OF TECHNOLOGY</a:t>
            </a:r>
            <a:endParaRPr lang="en-IN" sz="3200" dirty="0">
              <a:latin typeface="Algerian" panose="04020705040A02060702" pitchFamily="82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40541" y="2534264"/>
            <a:ext cx="95077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latin typeface="Algerian" panose="04020705040A02060702" pitchFamily="82" charset="0"/>
              </a:rPr>
              <a:t>BRANCH : COMPUTER SCIENCE AND TECHNOLOGY</a:t>
            </a:r>
            <a:endParaRPr lang="en-IN" sz="3200" dirty="0">
              <a:latin typeface="Algerian" panose="04020705040A02060702" pitchFamily="82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40541" y="3254476"/>
            <a:ext cx="52700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latin typeface="Algerian" panose="04020705040A02060702" pitchFamily="82" charset="0"/>
              </a:rPr>
              <a:t>ETHNUS ID : ETHSFB4051</a:t>
            </a:r>
            <a:endParaRPr lang="en-IN" sz="3200" dirty="0">
              <a:latin typeface="Algerian" panose="04020705040A02060702" pitchFamily="82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 flipH="1">
            <a:off x="1140541" y="3974688"/>
            <a:ext cx="61943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latin typeface="Algerian" panose="04020705040A02060702" pitchFamily="82" charset="0"/>
              </a:rPr>
              <a:t>TEAM NAME : MITHALI RAJ</a:t>
            </a:r>
            <a:endParaRPr lang="en-IN" sz="3200" dirty="0">
              <a:latin typeface="Algerian" panose="04020705040A02060702" pitchFamily="82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 flipH="1">
            <a:off x="1140540" y="4694900"/>
            <a:ext cx="4955458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latin typeface="Algerian" panose="04020705040A02060702" pitchFamily="82" charset="0"/>
              </a:rPr>
              <a:t>TOPIC : Strength</a:t>
            </a:r>
            <a:endParaRPr lang="en-IN" sz="3200" dirty="0">
              <a:latin typeface="Algerian" panose="04020705040A02060702" pitchFamily="82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57832" y="299884"/>
            <a:ext cx="53094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latin typeface="Algerian" panose="04020705040A02060702" pitchFamily="82" charset="0"/>
              </a:rPr>
              <a:t>            INTRODUCTION</a:t>
            </a:r>
            <a:endParaRPr lang="en-IN" sz="3200" dirty="0">
              <a:latin typeface="Algerian" panose="04020705040A02060702" pitchFamily="82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853430" y="966470"/>
            <a:ext cx="6262370" cy="59677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SWOT Analysis?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SWOT Analysis is a strategic planning tool used to understand a situation, business, project, or even a person by examining four key factors: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 – Strengths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 qualities that give an advantage.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 Good leadership, strong brand, skilled employees.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 – Weaknesses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 factors that create disadvantages.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 Low budget, outdated technology, poor marketing.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 – Opportunities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External chances to improve or grow.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 Increasing market demand, new technology, fewer competitors.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 – Threats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External factors that may cause problems.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 New competitors, government policy changes, economic slowdown.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Picture 8" descr="WhatsApp Image 2025-12-02 at 10.00.56 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205" y="1093470"/>
            <a:ext cx="5737225" cy="55346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748981" y="0"/>
            <a:ext cx="29595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latin typeface="Algerian" panose="04020705040A02060702" pitchFamily="82" charset="0"/>
              </a:rPr>
              <a:t>contents</a:t>
            </a:r>
            <a:endParaRPr lang="en-IN" sz="3200" dirty="0">
              <a:latin typeface="Algerian" panose="04020705040A02060702" pitchFamily="82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3034665" y="1384300"/>
            <a:ext cx="28771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150495" y="890270"/>
            <a:ext cx="7223760" cy="57315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en-US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000">
                <a:latin typeface="Algerian" panose="04020705040A02060702" pitchFamily="82" charset="0"/>
                <a:cs typeface="Algerian" panose="04020705040A02060702" pitchFamily="82" charset="0"/>
              </a:rPr>
              <a:t>Strengths </a:t>
            </a:r>
            <a:endParaRPr lang="en-US" altLang="en-US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en-US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en-US" sz="2000">
                <a:latin typeface="Calibri" panose="020F0502020204030204" pitchFamily="34" charset="0"/>
                <a:cs typeface="Calibri" panose="020F0502020204030204" pitchFamily="34" charset="0"/>
              </a:rPr>
              <a:t>Strengths are the internal capabilities, assets, and advantages that help an organization perform well and stand out from competition.</a:t>
            </a:r>
            <a:endParaRPr lang="en-US" altLang="en-US" sz="20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en-US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altLang="en-US" sz="2000">
                <a:latin typeface="Algerian" panose="04020705040A02060702" pitchFamily="82" charset="0"/>
                <a:cs typeface="Algerian" panose="04020705040A02060702" pitchFamily="82" charset="0"/>
              </a:rPr>
              <a:t>characteristics </a:t>
            </a:r>
            <a:r>
              <a:rPr lang="en-IN" altLang="en-US">
                <a:latin typeface="Algerian" panose="04020705040A02060702" pitchFamily="82" charset="0"/>
                <a:cs typeface="Algerian" panose="04020705040A02060702" pitchFamily="82" charset="0"/>
              </a:rPr>
              <a:t>of strengths:</a:t>
            </a:r>
            <a:endParaRPr lang="en-US" altLang="en-US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en-US">
                <a:latin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en-US" altLang="en-US" sz="2000">
                <a:latin typeface="Calibri" panose="020F0502020204030204" pitchFamily="34" charset="0"/>
                <a:cs typeface="Calibri" panose="020F0502020204030204" pitchFamily="34" charset="0"/>
              </a:rPr>
              <a:t>Completely internal</a:t>
            </a:r>
            <a:endParaRPr lang="en-US" altLang="en-US" sz="20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en-US" sz="2000">
                <a:latin typeface="Calibri" panose="020F0502020204030204" pitchFamily="34" charset="0"/>
                <a:cs typeface="Calibri" panose="020F0502020204030204" pitchFamily="34" charset="0"/>
              </a:rPr>
              <a:t>- Within the company’s control</a:t>
            </a:r>
            <a:endParaRPr lang="en-US" altLang="en-US" sz="20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en-US" sz="2000">
                <a:latin typeface="Calibri" panose="020F0502020204030204" pitchFamily="34" charset="0"/>
                <a:cs typeface="Calibri" panose="020F0502020204030204" pitchFamily="34" charset="0"/>
              </a:rPr>
              <a:t>- Contribute to performance, growth, and stability</a:t>
            </a:r>
            <a:endParaRPr lang="en-US" altLang="en-US" sz="20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en-US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altLang="en-US">
                <a:latin typeface="Algerian" panose="04020705040A02060702" pitchFamily="82" charset="0"/>
                <a:cs typeface="Algerian" panose="04020705040A02060702" pitchFamily="82" charset="0"/>
              </a:rPr>
              <a:t>why strengths matter:</a:t>
            </a:r>
            <a:endParaRPr lang="en-US" altLang="en-US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en-US" sz="2000">
                <a:latin typeface="Calibri" panose="020F0502020204030204" pitchFamily="34" charset="0"/>
                <a:cs typeface="Calibri" panose="020F0502020204030204" pitchFamily="34" charset="0"/>
              </a:rPr>
              <a:t>- Build competitive advantage</a:t>
            </a:r>
            <a:endParaRPr lang="en-US" altLang="en-US" sz="20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en-US" sz="2000">
                <a:latin typeface="Calibri" panose="020F0502020204030204" pitchFamily="34" charset="0"/>
                <a:cs typeface="Calibri" panose="020F0502020204030204" pitchFamily="34" charset="0"/>
              </a:rPr>
              <a:t>- Increase customer loyalty</a:t>
            </a:r>
            <a:endParaRPr lang="en-US" altLang="en-US" sz="20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en-US" sz="2000">
                <a:latin typeface="Calibri" panose="020F0502020204030204" pitchFamily="34" charset="0"/>
                <a:cs typeface="Calibri" panose="020F0502020204030204" pitchFamily="34" charset="0"/>
              </a:rPr>
              <a:t>- Help capture larger market share</a:t>
            </a:r>
            <a:endParaRPr lang="en-US" altLang="en-US" sz="20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en-US" sz="2000">
                <a:latin typeface="Calibri" panose="020F0502020204030204" pitchFamily="34" charset="0"/>
                <a:cs typeface="Calibri" panose="020F0502020204030204" pitchFamily="34" charset="0"/>
              </a:rPr>
              <a:t>- Support long-term sustainability</a:t>
            </a:r>
            <a:endParaRPr lang="en-US" altLang="en-US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en-US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 descr="WhatsApp Image 2025-12-02 at 10.00.56 PM (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10860" y="2186940"/>
            <a:ext cx="6404610" cy="42113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160655" y="-635"/>
            <a:ext cx="9081135" cy="68586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IN" altLang="en-US" sz="3200">
                <a:latin typeface="Algerian" panose="04020705040A02060702" pitchFamily="82" charset="0"/>
                <a:cs typeface="Algerian" panose="04020705040A02060702" pitchFamily="82" charset="0"/>
              </a:rPr>
              <a:t>                                     TYPES OF STRENGTHS</a:t>
            </a:r>
            <a:endParaRPr lang="en-US" altLang="en-US" sz="3200">
              <a:latin typeface="Algerian" panose="04020705040A02060702" pitchFamily="82" charset="0"/>
              <a:cs typeface="Algerian" panose="04020705040A02060702" pitchFamily="82" charset="0"/>
            </a:endParaRPr>
          </a:p>
          <a:p>
            <a:r>
              <a:rPr lang="en-US" altLang="en-US" sz="2000">
                <a:latin typeface="Calibri" panose="020F0502020204030204" pitchFamily="34" charset="0"/>
                <a:cs typeface="Calibri" panose="020F0502020204030204" pitchFamily="34" charset="0"/>
              </a:rPr>
              <a:t>Strengths can come from different areas of the business.</a:t>
            </a:r>
            <a:endParaRPr lang="en-US" altLang="en-US" sz="20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en-US"/>
          </a:p>
          <a:p>
            <a:r>
              <a:rPr lang="en-US" altLang="en-US"/>
              <a:t>1. </a:t>
            </a:r>
            <a:r>
              <a:rPr lang="en-IN" altLang="en-US" sz="2000">
                <a:latin typeface="Algerian" panose="04020705040A02060702" pitchFamily="82" charset="0"/>
                <a:cs typeface="Algerian" panose="04020705040A02060702" pitchFamily="82" charset="0"/>
              </a:rPr>
              <a:t>HUMAN STRENGTHS</a:t>
            </a:r>
            <a:r>
              <a:rPr lang="en-US" altLang="en-US"/>
              <a:t>:</a:t>
            </a:r>
            <a:endParaRPr lang="en-US" altLang="en-US"/>
          </a:p>
          <a:p>
            <a:r>
              <a:rPr lang="en-US" altLang="en-US" sz="2000">
                <a:latin typeface="Calibri" panose="020F0502020204030204" pitchFamily="34" charset="0"/>
                <a:cs typeface="Calibri" panose="020F0502020204030204" pitchFamily="34" charset="0"/>
              </a:rPr>
              <a:t>* Skilled and experienced employees</a:t>
            </a:r>
            <a:endParaRPr lang="en-US" altLang="en-US" sz="20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en-US" sz="2000">
                <a:latin typeface="Calibri" panose="020F0502020204030204" pitchFamily="34" charset="0"/>
                <a:cs typeface="Calibri" panose="020F0502020204030204" pitchFamily="34" charset="0"/>
              </a:rPr>
              <a:t>* Strong leadership and management</a:t>
            </a:r>
            <a:endParaRPr lang="en-US" altLang="en-US" sz="20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en-US" sz="2000">
                <a:latin typeface="Calibri" panose="020F0502020204030204" pitchFamily="34" charset="0"/>
                <a:cs typeface="Calibri" panose="020F0502020204030204" pitchFamily="34" charset="0"/>
              </a:rPr>
              <a:t>* High employee motivation</a:t>
            </a:r>
            <a:endParaRPr lang="en-US" altLang="en-US" sz="20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en-US"/>
          </a:p>
          <a:p>
            <a:r>
              <a:rPr lang="en-US" altLang="en-US"/>
              <a:t>2.</a:t>
            </a:r>
            <a:r>
              <a:rPr lang="en-US" altLang="en-US" sz="2000"/>
              <a:t> </a:t>
            </a:r>
            <a:r>
              <a:rPr lang="en-IN" altLang="en-US" sz="2000">
                <a:latin typeface="Algerian" panose="04020705040A02060702" pitchFamily="82" charset="0"/>
                <a:cs typeface="Algerian" panose="04020705040A02060702" pitchFamily="82" charset="0"/>
              </a:rPr>
              <a:t>FINANCIAL STRENGTHS</a:t>
            </a:r>
            <a:r>
              <a:rPr lang="en-US" altLang="en-US"/>
              <a:t>:</a:t>
            </a:r>
            <a:endParaRPr lang="en-US" altLang="en-US"/>
          </a:p>
          <a:p>
            <a:r>
              <a:rPr lang="en-US" altLang="en-US" sz="2000">
                <a:latin typeface="Calibri" panose="020F0502020204030204" pitchFamily="34" charset="0"/>
                <a:cs typeface="Calibri" panose="020F0502020204030204" pitchFamily="34" charset="0"/>
              </a:rPr>
              <a:t>* Strong cash flow</a:t>
            </a:r>
            <a:endParaRPr lang="en-US" altLang="en-US" sz="20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en-US" sz="2000">
                <a:latin typeface="Calibri" panose="020F0502020204030204" pitchFamily="34" charset="0"/>
                <a:cs typeface="Calibri" panose="020F0502020204030204" pitchFamily="34" charset="0"/>
              </a:rPr>
              <a:t>* Good profitability</a:t>
            </a:r>
            <a:endParaRPr lang="en-US" altLang="en-US" sz="20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en-US" sz="2000">
                <a:latin typeface="Calibri" panose="020F0502020204030204" pitchFamily="34" charset="0"/>
                <a:cs typeface="Calibri" panose="020F0502020204030204" pitchFamily="34" charset="0"/>
              </a:rPr>
              <a:t>* Ability to invest in growth</a:t>
            </a:r>
            <a:endParaRPr lang="en-US" altLang="en-US" sz="20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en-US"/>
          </a:p>
          <a:p>
            <a:r>
              <a:rPr lang="en-US" altLang="en-US"/>
              <a:t>3. </a:t>
            </a:r>
            <a:r>
              <a:rPr lang="en-IN" altLang="en-US" sz="2000">
                <a:latin typeface="Algerian" panose="04020705040A02060702" pitchFamily="82" charset="0"/>
                <a:cs typeface="Algerian" panose="04020705040A02060702" pitchFamily="82" charset="0"/>
              </a:rPr>
              <a:t>OPERATIONAL STRENGTHS</a:t>
            </a:r>
            <a:r>
              <a:rPr lang="en-US" altLang="en-US"/>
              <a:t>:</a:t>
            </a:r>
            <a:endParaRPr lang="en-US" altLang="en-US"/>
          </a:p>
          <a:p>
            <a:r>
              <a:rPr lang="en-US" altLang="en-US" sz="2000">
                <a:latin typeface="Calibri" panose="020F0502020204030204" pitchFamily="34" charset="0"/>
                <a:cs typeface="Calibri" panose="020F0502020204030204" pitchFamily="34" charset="0"/>
              </a:rPr>
              <a:t>* Efficient production or service delivery</a:t>
            </a:r>
            <a:endParaRPr lang="en-US" altLang="en-US" sz="20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en-US" sz="2000">
                <a:latin typeface="Calibri" panose="020F0502020204030204" pitchFamily="34" charset="0"/>
                <a:cs typeface="Calibri" panose="020F0502020204030204" pitchFamily="34" charset="0"/>
              </a:rPr>
              <a:t>* Advanced technology and tools</a:t>
            </a:r>
            <a:endParaRPr lang="en-US" altLang="en-US" sz="20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en-US" sz="2000">
                <a:latin typeface="Calibri" panose="020F0502020204030204" pitchFamily="34" charset="0"/>
                <a:cs typeface="Calibri" panose="020F0502020204030204" pitchFamily="34" charset="0"/>
              </a:rPr>
              <a:t>* Reliable supply chain</a:t>
            </a:r>
            <a:endParaRPr lang="en-US" altLang="en-US" sz="20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en-US"/>
          </a:p>
          <a:p>
            <a:r>
              <a:rPr lang="en-US" altLang="en-US"/>
              <a:t>4. </a:t>
            </a:r>
            <a:r>
              <a:rPr lang="en-IN" altLang="en-US" sz="2000">
                <a:latin typeface="Algerian" panose="04020705040A02060702" pitchFamily="82" charset="0"/>
                <a:cs typeface="Algerian" panose="04020705040A02060702" pitchFamily="82" charset="0"/>
              </a:rPr>
              <a:t>MARKET STRENGTHS</a:t>
            </a:r>
            <a:r>
              <a:rPr lang="en-US" altLang="en-US"/>
              <a:t>:</a:t>
            </a:r>
            <a:endParaRPr lang="en-US" altLang="en-US"/>
          </a:p>
          <a:p>
            <a:r>
              <a:rPr lang="en-US" altLang="en-US" sz="2000">
                <a:latin typeface="Calibri" panose="020F0502020204030204" pitchFamily="34" charset="0"/>
                <a:cs typeface="Calibri" panose="020F0502020204030204" pitchFamily="34" charset="0"/>
              </a:rPr>
              <a:t>* Strong brand image</a:t>
            </a:r>
            <a:endParaRPr lang="en-US" altLang="en-US" sz="20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en-US" sz="2000">
                <a:latin typeface="Calibri" panose="020F0502020204030204" pitchFamily="34" charset="0"/>
                <a:cs typeface="Calibri" panose="020F0502020204030204" pitchFamily="34" charset="0"/>
              </a:rPr>
              <a:t>* Customer loyalty</a:t>
            </a:r>
            <a:endParaRPr lang="en-US" altLang="en-US" sz="20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en-US" sz="2000">
                <a:latin typeface="Calibri" panose="020F0502020204030204" pitchFamily="34" charset="0"/>
                <a:cs typeface="Calibri" panose="020F0502020204030204" pitchFamily="34" charset="0"/>
              </a:rPr>
              <a:t>* Wide market presence</a:t>
            </a:r>
            <a:endParaRPr lang="en-US" altLang="en-US" sz="20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en-US"/>
          </a:p>
          <a:p>
            <a:endParaRPr lang="en-US"/>
          </a:p>
        </p:txBody>
      </p:sp>
      <p:pic>
        <p:nvPicPr>
          <p:cNvPr id="3" name="Picture 2" descr="WhatsApp Image 2025-12-02 at 10.00.56 PM (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08575" y="1111885"/>
            <a:ext cx="6803390" cy="54489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152400" y="371475"/>
            <a:ext cx="6939915" cy="62230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IN" altLang="en-US" sz="3200">
                <a:latin typeface="Algerian" panose="04020705040A02060702" pitchFamily="82" charset="0"/>
                <a:cs typeface="Algerian" panose="04020705040A02060702" pitchFamily="82" charset="0"/>
              </a:rPr>
              <a:t>IMPORTANCE OF STRENGTHS IN SWOT ANALYSIS</a:t>
            </a:r>
            <a:endParaRPr lang="en-US" altLang="en-US" sz="3200">
              <a:latin typeface="Algerian" panose="04020705040A02060702" pitchFamily="82" charset="0"/>
              <a:cs typeface="Algerian" panose="04020705040A02060702" pitchFamily="82" charset="0"/>
            </a:endParaRPr>
          </a:p>
          <a:p>
            <a:endParaRPr lang="en-US" altLang="en-US"/>
          </a:p>
          <a:p>
            <a:r>
              <a:rPr lang="en-US" altLang="en-US" sz="2000">
                <a:latin typeface="Algerian" panose="04020705040A02060702" pitchFamily="82" charset="0"/>
                <a:cs typeface="Algerian" panose="04020705040A02060702" pitchFamily="82" charset="0"/>
              </a:rPr>
              <a:t>Understanding strengths helps a business:</a:t>
            </a:r>
            <a:endParaRPr lang="en-US" altLang="en-US" sz="2000">
              <a:latin typeface="Algerian" panose="04020705040A02060702" pitchFamily="82" charset="0"/>
              <a:cs typeface="Algerian" panose="04020705040A02060702" pitchFamily="82" charset="0"/>
            </a:endParaRPr>
          </a:p>
          <a:p>
            <a:endParaRPr lang="en-US" altLang="en-US"/>
          </a:p>
          <a:p>
            <a:r>
              <a:rPr lang="en-US" altLang="en-US" sz="2000">
                <a:latin typeface="Calibri" panose="020F0502020204030204" pitchFamily="34" charset="0"/>
                <a:cs typeface="Calibri" panose="020F0502020204030204" pitchFamily="34" charset="0"/>
              </a:rPr>
              <a:t>Build Competitive Advantage - Use strengths to stand out in the market.</a:t>
            </a:r>
            <a:endParaRPr lang="en-US" altLang="en-US" sz="20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en-US" sz="20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en-US" sz="2000">
                <a:latin typeface="Calibri" panose="020F0502020204030204" pitchFamily="34" charset="0"/>
                <a:cs typeface="Calibri" panose="020F0502020204030204" pitchFamily="34" charset="0"/>
              </a:rPr>
              <a:t> Improve Strategy Planning - Focus resources on areas where the company performs best.</a:t>
            </a:r>
            <a:endParaRPr lang="en-US" altLang="en-US" sz="20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en-US" sz="20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en-US" sz="2000">
                <a:latin typeface="Calibri" panose="020F0502020204030204" pitchFamily="34" charset="0"/>
                <a:cs typeface="Calibri" panose="020F0502020204030204" pitchFamily="34" charset="0"/>
              </a:rPr>
              <a:t> Achieve Long-Term Growth - Strengths allow expansion, innovation, and stability.</a:t>
            </a:r>
            <a:endParaRPr lang="en-US" altLang="en-US" sz="20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en-US" sz="20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en-US" sz="2000">
                <a:latin typeface="Calibri" panose="020F0502020204030204" pitchFamily="34" charset="0"/>
                <a:cs typeface="Calibri" panose="020F0502020204030204" pitchFamily="34" charset="0"/>
              </a:rPr>
              <a:t> Increase Market Share - Strong capabilities help capture and retain customers.</a:t>
            </a:r>
            <a:endParaRPr lang="en-US" altLang="en-US" sz="20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en-US" sz="20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en-US" sz="2000">
                <a:latin typeface="Calibri" panose="020F0502020204030204" pitchFamily="34" charset="0"/>
                <a:cs typeface="Calibri" panose="020F0502020204030204" pitchFamily="34" charset="0"/>
              </a:rPr>
              <a:t> Make Better Decisions - Managers can make informed choices by knowing what the business excels at.</a:t>
            </a:r>
            <a:endParaRPr lang="en-US" altLang="en-US" sz="20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 descr="WhatsApp Image 2025-12-03 at 7.07.40 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92315" y="880745"/>
            <a:ext cx="4918075" cy="559371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243205" y="0"/>
            <a:ext cx="11948795" cy="44215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en-US"/>
              <a:t> </a:t>
            </a:r>
            <a:r>
              <a:rPr lang="en-IN" altLang="en-US"/>
              <a:t>                                              </a:t>
            </a:r>
            <a:r>
              <a:rPr lang="en-US" altLang="en-US" sz="3200">
                <a:latin typeface="Algerian" panose="04020705040A02060702" pitchFamily="82" charset="0"/>
                <a:cs typeface="Algerian" panose="04020705040A02060702" pitchFamily="82" charset="0"/>
              </a:rPr>
              <a:t>How to Identify Strengths</a:t>
            </a:r>
            <a:endParaRPr lang="en-US" altLang="en-US" sz="3200">
              <a:latin typeface="Algerian" panose="04020705040A02060702" pitchFamily="82" charset="0"/>
              <a:cs typeface="Algerian" panose="04020705040A02060702" pitchFamily="82" charset="0"/>
            </a:endParaRPr>
          </a:p>
          <a:p>
            <a:endParaRPr lang="en-US" altLang="en-US"/>
          </a:p>
          <a:p>
            <a:endParaRPr lang="en-US" altLang="en-US" sz="2000">
              <a:latin typeface="Algerian" panose="04020705040A02060702" pitchFamily="82" charset="0"/>
              <a:cs typeface="Algerian" panose="04020705040A02060702" pitchFamily="82" charset="0"/>
            </a:endParaRPr>
          </a:p>
          <a:p>
            <a:endParaRPr lang="en-US" altLang="en-US" sz="2000">
              <a:latin typeface="Algerian" panose="04020705040A02060702" pitchFamily="82" charset="0"/>
              <a:cs typeface="Algerian" panose="04020705040A02060702" pitchFamily="82" charset="0"/>
            </a:endParaRPr>
          </a:p>
          <a:p>
            <a:endParaRPr lang="en-US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 descr="WhatsApp Image 2025-12-03 at 7.07.42 PM (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3205" y="559435"/>
            <a:ext cx="11754485" cy="326072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310515" y="3429000"/>
            <a:ext cx="11687175" cy="38074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en-US"/>
              <a:t> </a:t>
            </a:r>
            <a:endParaRPr lang="en-US" altLang="en-US"/>
          </a:p>
          <a:p>
            <a:endParaRPr lang="en-US" altLang="en-US"/>
          </a:p>
          <a:p>
            <a:r>
              <a:rPr lang="en-US" altLang="en-US" sz="2000">
                <a:latin typeface="Algerian" panose="04020705040A02060702" pitchFamily="82" charset="0"/>
                <a:cs typeface="Algerian" panose="04020705040A02060702" pitchFamily="82" charset="0"/>
              </a:rPr>
              <a:t>Ask these questions:</a:t>
            </a:r>
            <a:endParaRPr lang="en-US" altLang="en-US" sz="2000">
              <a:latin typeface="Algerian" panose="04020705040A02060702" pitchFamily="82" charset="0"/>
              <a:cs typeface="Algerian" panose="04020705040A02060702" pitchFamily="82" charset="0"/>
            </a:endParaRPr>
          </a:p>
          <a:p>
            <a:r>
              <a:rPr lang="en-US" altLang="en-US" sz="2000">
                <a:latin typeface="Calibri" panose="020F0502020204030204" pitchFamily="34" charset="0"/>
                <a:cs typeface="Calibri" panose="020F0502020204030204" pitchFamily="34" charset="0"/>
              </a:rPr>
              <a:t>- What do we do better than competitors?</a:t>
            </a:r>
            <a:endParaRPr lang="en-US" altLang="en-US" sz="20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en-US" sz="2000">
                <a:latin typeface="Calibri" panose="020F0502020204030204" pitchFamily="34" charset="0"/>
                <a:cs typeface="Calibri" panose="020F0502020204030204" pitchFamily="34" charset="0"/>
              </a:rPr>
              <a:t>- What do customers like most about us?</a:t>
            </a:r>
            <a:endParaRPr lang="en-US" altLang="en-US" sz="20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en-US" sz="2000">
                <a:latin typeface="Calibri" panose="020F0502020204030204" pitchFamily="34" charset="0"/>
                <a:cs typeface="Calibri" panose="020F0502020204030204" pitchFamily="34" charset="0"/>
              </a:rPr>
              <a:t>- What unique resources do we have?</a:t>
            </a:r>
            <a:endParaRPr lang="en-US" altLang="en-US" sz="20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en-US" sz="2000">
                <a:latin typeface="Calibri" panose="020F0502020204030204" pitchFamily="34" charset="0"/>
                <a:cs typeface="Calibri" panose="020F0502020204030204" pitchFamily="34" charset="0"/>
              </a:rPr>
              <a:t>- What skills make us successful?</a:t>
            </a:r>
            <a:endParaRPr lang="en-US" altLang="en-US" sz="20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en-US" sz="2000">
                <a:latin typeface="Calibri" panose="020F0502020204030204" pitchFamily="34" charset="0"/>
                <a:cs typeface="Calibri" panose="020F0502020204030204" pitchFamily="34" charset="0"/>
              </a:rPr>
              <a:t>- What internal advantages set us apart?</a:t>
            </a:r>
            <a:endParaRPr lang="en-US" altLang="en-US" sz="20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en-US" sz="20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en-US" sz="2000">
                <a:latin typeface="Calibri" panose="020F0502020204030204" pitchFamily="34" charset="0"/>
                <a:cs typeface="Calibri" panose="020F0502020204030204" pitchFamily="34" charset="0"/>
              </a:rPr>
              <a:t>This helps identify the most powerful strengths.</a:t>
            </a:r>
            <a:endParaRPr lang="en-US" altLang="en-US"/>
          </a:p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393065" y="853440"/>
            <a:ext cx="11141075" cy="32238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en-US"/>
              <a:t> </a:t>
            </a:r>
            <a:r>
              <a:rPr lang="en-IN" altLang="en-US"/>
              <a:t>                                                                          </a:t>
            </a:r>
            <a:endParaRPr lang="en-US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 descr="WhatsApp Image 2025-12-03 at 7.07.42 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58770" y="1036320"/>
            <a:ext cx="6414770" cy="3284220"/>
          </a:xfrm>
          <a:prstGeom prst="rect">
            <a:avLst/>
          </a:prstGeom>
        </p:spPr>
      </p:pic>
      <p:sp>
        <p:nvSpPr>
          <p:cNvPr id="10" name="Text Box 9"/>
          <p:cNvSpPr txBox="1"/>
          <p:nvPr/>
        </p:nvSpPr>
        <p:spPr>
          <a:xfrm>
            <a:off x="232410" y="4716780"/>
            <a:ext cx="11817350" cy="20085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000">
                <a:latin typeface="Calibri" panose="020F0502020204030204" pitchFamily="34" charset="0"/>
                <a:cs typeface="Calibri" panose="020F0502020204030204" pitchFamily="34" charset="0"/>
              </a:rPr>
              <a:t>Understanding the strengths in a SWOT analysis helps a business clearly recognize what it does best and what advantages it has over competitors. By identifying these internal positive factors such as strong skills, good resources, a trusted brand, or high-quality products a company can build strategies that focus on its strongest areas. This allows the business to grow more effectively, compete confidently in the market, and use its strengths to achieve long-term success.</a:t>
            </a:r>
            <a:endParaRPr lang="en-US" altLang="en-US" sz="20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en-US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 Box 11"/>
          <p:cNvSpPr txBox="1"/>
          <p:nvPr/>
        </p:nvSpPr>
        <p:spPr>
          <a:xfrm>
            <a:off x="3492500" y="172720"/>
            <a:ext cx="5530215" cy="7162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IN" altLang="en-US" sz="3200">
                <a:latin typeface="Algerian" panose="04020705040A02060702" pitchFamily="82" charset="0"/>
                <a:cs typeface="Algerian" panose="04020705040A02060702" pitchFamily="82" charset="0"/>
              </a:rPr>
              <a:t>              CONCLUSION</a:t>
            </a:r>
            <a:endParaRPr lang="en-IN" altLang="en-US" sz="3200">
              <a:latin typeface="Algerian" panose="04020705040A02060702" pitchFamily="82" charset="0"/>
              <a:cs typeface="Algerian" panose="04020705040A02060702" pitchFamily="82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Box 2"/>
          <p:cNvSpPr txBox="1"/>
          <p:nvPr/>
        </p:nvSpPr>
        <p:spPr>
          <a:xfrm>
            <a:off x="571500" y="3028950"/>
            <a:ext cx="10933430" cy="21545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IN" altLang="en-US" sz="3200">
                <a:latin typeface="Algerian" panose="04020705040A02060702" pitchFamily="82" charset="0"/>
                <a:cs typeface="Algerian" panose="04020705040A02060702" pitchFamily="82" charset="0"/>
              </a:rPr>
              <a:t>                                          THANKYOU</a:t>
            </a:r>
            <a:endParaRPr lang="en-IN" altLang="en-US" sz="3200">
              <a:latin typeface="Algerian" panose="04020705040A02060702" pitchFamily="82" charset="0"/>
              <a:cs typeface="Algerian" panose="04020705040A02060702" pitchFamily="82" charset="0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0</TotalTime>
  <Words>3201</Words>
  <Application>WPS Presentation</Application>
  <PresentationFormat>Widescreen</PresentationFormat>
  <Paragraphs>115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2" baseType="lpstr">
      <vt:lpstr>Arial</vt:lpstr>
      <vt:lpstr>SimSun</vt:lpstr>
      <vt:lpstr>Wingdings</vt:lpstr>
      <vt:lpstr>Algerian</vt:lpstr>
      <vt:lpstr>Calibri</vt:lpstr>
      <vt:lpstr>Microsoft YaHei</vt:lpstr>
      <vt:lpstr>Arial Unicode MS</vt:lpstr>
      <vt:lpstr>Bookman Old Style</vt:lpstr>
      <vt:lpstr>Rockwell</vt:lpstr>
      <vt:lpstr>Arial Rounded MT Bold</vt:lpstr>
      <vt:lpstr>Castellar</vt:lpstr>
      <vt:lpstr>Consolas</vt:lpstr>
      <vt:lpstr>Agency FB</vt:lpstr>
      <vt:lpstr>Damask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Smile Foundation</dc:creator>
  <cp:lastModifiedBy>Bindu . D</cp:lastModifiedBy>
  <cp:revision>5</cp:revision>
  <dcterms:created xsi:type="dcterms:W3CDTF">2025-11-28T15:00:00Z</dcterms:created>
  <dcterms:modified xsi:type="dcterms:W3CDTF">2025-12-03T14:14:16Z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E9D67D3472EB4B4D80BC15833EFD0AF8_13</vt:lpwstr>
  </property>
  <property fmtid="{D5CDD505-2E9C-101B-9397-08002B2CF9AE}" pid="3" name="KSOProductBuildVer">
    <vt:lpwstr>1033-12.2.0.23155</vt:lpwstr>
  </property>
</Properties>
</file>